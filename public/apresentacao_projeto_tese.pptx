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formal do Projeto de Tese de Doutorado da Paula Larissa Lima Araújo no P2CEM/UFS sob orientação do Prof. Eduardo Kirinus Tentardini.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síntese completa do projeto, combinando a deposição dos revestimentos com uma rigorosa matriz de caracterização física, química e estrutural.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 contexto da engenharia de superfícies e a importância dos nitretos de metais de transição (MTNs) para a proteção de componentes mecânicos.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Detalhar as limitações do NbN puro em termos de estabilidade térmica e resistência eletroquímica causadas pela difusão nos contornos de grão colunares.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hipótese de amorfização dos contornos de grão com a fase Si3N4 e justificar a necessidade do estudo no sistema Nb-Si-N.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objetivo geral e as metas de otimização de parâmetros e caracterização estrutural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Detalhar a fase avançada de investigação química, ensaios eletroquímicos em salmoura e oxidação a altas temperaturas.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definição formal de filmes finos e os princípios fundamentais do processo PVD.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os fenômenos físicos de desbaste por transferência de momento atômico e a física de plasma em câmaras de alto vácuo.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o uso de magnetrons para elevação da densidade de plasma e os desafios do modo reativo (envenenamento do alvo).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Revisar o histórico de estudos sobre a cinética de oxidação e cristalização do pentóxido de nióbio no NbN.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estatisticamente como o aumento do teor de silício reduz a espessura da camada oxidada em matrizes de nitreto de metal de transição.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redução da densidade de corrente de corrosão e a amorfização dos contornos de grão como barreira de proteção.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Detalhar o equipamento AJA Orion 5-HV do laboratório da UFS e suas configurações técnicas de deposição.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Descrever a preparação criteriosa dos 3 tipos de substratos e o protocolo de limpeza térmica da câmara de vácuo.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as condições experimentais de deposição e o método de controle do teor atômico de silício.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os equipamentos de caracterização física e o arranjo experimental da célula eletroquímica adaptada.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Mapear a infraestrutura dos laboratórios da Universidade Federal de Sergipe e dos centros parceiros CBPF e UFRGS.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Resumir as principais contribuições científicas e tecnológicas esperadas ao término da tese de doutorado.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distribuição das metas no tempo de 2026 a 2030 e fazer os agradecimentos à equipe de pesquisa.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UNIVERSIDADE FEDERAL DE SERGIPE (UFS)</a:t>
            </a:r>
            <a:br/>
            <a:r>
              <a:t>Programa de Pós-Graduação em Ciência e Engenharia de Materiais (P2CEM)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62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PROJETO DE TESE DE DOUTORADO (2026.1)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362895" cy="2377440"/>
          </a:xfrm>
          <a:prstGeom prst="roundRect">
            <a:avLst/>
          </a:prstGeom>
          <a:solidFill>
            <a:srgbClr val="121C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spcAft>
                <a:spcPts val="1400"/>
              </a:spcAft>
              <a:defRPr sz="2200" b="1">
                <a:solidFill>
                  <a:srgbClr val="F8FAFC"/>
                </a:solidFill>
              </a:defRPr>
            </a:pPr>
            <a:r>
              <a:t>INVESTIGAÇÃO DO MECANISMO DE OXIDAÇÃO E CORROSÃO DE FILMES FINOS DE Nb-Si-N OBTIDOS VIA MAGNETRON SPUTTERING REATIVO</a:t>
            </a:r>
          </a:p>
          <a:p>
            <a:pPr algn="ctr">
              <a:defRPr sz="1400" b="1">
                <a:solidFill>
                  <a:srgbClr val="818CF8"/>
                </a:solidFill>
              </a:defRPr>
            </a:pPr>
            <a:r>
              <a:t>Linha de Pesquisa: Cerâmicas e Seus Compósitos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9448495" cy="1280160"/>
          </a:xfrm>
          <a:prstGeom prst="roundRect">
            <a:avLst/>
          </a:prstGeom>
          <a:solidFill>
            <a:srgbClr val="1C29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Discente: Paula Larissa Lima Araújo    |    Orientador: Prof. Dr. Eduardo Kirinus Tentardini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Agosto de 2026 — São Cristóvão / 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Resumo Executivo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2/20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🎯 Objetivo em Destaque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Depositar filmes de NbN e Nb-Si-N por magnetron sputtering reativo para investigar os mecanismos de degradação em oxidação (500–700 °C) e corrosão (NaCl 3,5%).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🧪 Abordagem Multidimensionale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Caracterização contínua das amostras como-depositadas e pós-ensaios oxidativos/eletroquímicos para correlação entre parâmetros, estrutura e propriedades.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🔬 Matriz de Caracterizações Avançadas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RBS (Retroespalhamento Rutherford): Composição elementar exata e espessura dos filmes.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GIXRD (Difração de Raios X com Incidência Rasante): Identificação de fases cristalinas antes e pós-oxidação.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MEV / EDS (Microscopia Eletrônica de Varredura): Análise morfológica superficial e de seção transversal.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XPS (Espectroscopia de Fotoelétrons por Raios X): Determinação dos estados de oxidação e ligações químicas (Nb-N, Si-N, Nb-O, Si-O).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INTRODUÇÃO &amp; JUSTIFICATIVA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Demanda por Revestimentos Cerâmicos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3/20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⚙️ Solicitações Severas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indústria metalmecânica e de ferramentas de corte exige componentes com elevada resistência mecânica, tribológica e inércia química sob condições extremas.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🛡️ Filmes Finos PVD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Permitem a modificação de superfície em escala nanométrica/micrométrica, aumentando a vida útil do componente mantendo a tenacidade do substrato.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💎 Nitretos de Metais (MTNs)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Nitreto de Nióbio (NbN) destaca-se pela elevada dureza, resistência ao desgaste e estabilidade química entre os nitretos dos metais de transição.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📌 Relevância da Pesquisa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Desenvolver revestimentos funcionais protetores capazes de resistir simultaneamente à degradação mecânica, oxidativa em altas temperaturas e corrosiva em ambientes aquosos agressivos.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PROBLEMATIZAÇÃO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Limitações Físicas e Químicas do NbN Puro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4/20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🔥 Baixa Estabilidade Térmica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Início da oxidação em temperaturas &lt; 450 °C.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Nitretos equivalentes (TiN, ZrN) resistem até ~600 °C.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Formação não protetora e volumétrica de pentóxido de nióbio (Nb2O5).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Degradação severa e perda de integridade mecânica.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💧 Vulnerabilidade a Meios Salinos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Desempenho corrosivo inferior em relação ao CrN em solução de NaCl 3,5%.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Permeabilidade a espécies agressivas (íons de cloreto Cl-).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Taxa de corrosão elevada no revestimento binário puro.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🧬 A Causa Raiz: Microestrutura Colunar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Os contornos de grão abertos da estrutura colunar do NbN funcionam como canais rápidos de difusão de oxigênio e eletrólitos corrosivos em direção ao substrato.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ESTRATÉGIA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Adição de Silício (Si) &amp; Engenharia Microestrutural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5/20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🛡️ Formação da Fase Amorfa Si3N4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adição de Si segrega uma fase amorfa de Si3N4 nos contornos dos nanocristais de NbN, interrompendo o crescimento colunar contínuo.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🧱 Barreira à Difusão de Espécies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matriz nanocompósita dificulta fisicamente a percolação de oxigênio (O2) e íons salinos (Cl-), aumentando a passivação do filme.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🔍 A Lacuna Científica do Sistema Nb-Si-N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Embora sistemas como Ti-Si-N e Zr-Si-N sejam consolidados na literatura, ainda há escassez de investigações dedicadas à elucidação cinética e mecanicista da oxidação e corrosão do sistema Nb-Si-N em temperaturas elevadas.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OBJETIVOS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Objetivo Principal &amp; Metas Específicas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6/20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6459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🎯 Objetivo Principal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Investigar a resistência à corrosão e o mecanismo oxidativo em altas temperaturas de filmes finos de Nb-Si-N obtidos por magnetron sputtering reativo.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728655" cy="28346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📋 Objetivos Específicos (Fase de Síntese e Caracterização Inicial)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Determinar as potências ideais aplicadas aos alvos de Nb e Si para obtenção de filmes de NbN e Nb-Si-N.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Caracterizar os filmes por RBS para determinar a composição elementar precisa e espessura.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Identificar as fases cristalinas presentes por GIXRD (difração de raios X com ângulo rasante).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Avaliar a integridade superficial e morfologia de crescimento transversal por imagens de MEV.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OBJETIVOS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Objetivos Específicos (Fase Experimental 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7/20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🧪 Caracterização Química &amp; Corrosão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Determinar a estrutura e ligações químicas (Nb-N, Si-N, Nb-O, Si-O) nas amostras como-depositadas por XPS.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Realizar ensaios eletroquímicos em NaCl 3,5% para avaliação da densidade de corrente de corrosão e passivação.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🔥 Ensaios de Oxidação &amp; Mecanismo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Conduzir tratamentos térmicos em mufla a 500, 600 e 700 °C em atmosfera ambiente.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Verificar a estabilidade de fases e formação de novos óxidos por GIXRD pós-oxidação.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Inspecionar a integridade e seção transversal das amostras oxidadas por MEV.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Analisar as superfícies oxidadas por XPS para estabelecer o modelo mecanicista de oxidação.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Conceito de Filmes Finos &amp; Deposição PVD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8/20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📏 Escala Nanométrica e Micrométrica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Filmes finos são camadas de material depositadas sobre um substrato com espessuras variando de alguns angströms (Å) a poucos micrômetros (μm).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💨 Deposição Física de Vapor (PVD)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Processo de revestimento onde o material fonte é convertido em vapor em ambiente de vácuo e condensado sobre a superfície do substrato.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💡 Vantagens dos Revestimentos PVD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Elevada adesão ao substrato devido à energia das partículas incidentes.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Excelente controle sobre a composição química e estequiometria dos filmes.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Processo limpo que possibilita a síntese de estruturas cristalinas e nanocompósitas únicas.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Mecanismo do Processo de Sputtering &amp; Plasma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9/20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💥 Bombardeamento Iônico Energético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Íons positivos do gás de trabalho (Ar+) são acelerados contra o alvo negativamente polarizado, provocando a ejeção mecânica de átomos da superfície.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⚡ Descarga Luminosa (Plasma)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O plasma é gerado e mantido por colisões entre elétrons livres e átomos de Argônio em vácuo, criando um ciclo contínuo e autos sustentável de ionização.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🏝️ Nucleação e Crescimento do Filme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Os átomos ejetados atravessam a câmara de deposição e condensam-se no substrato, formando ilhas de nucleação que crescem e coalescem em uma microestrutura contínua.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Magnetron Sputtering Reativo &amp; Envenenamento do 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10/20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🧲 Confinamento Magnético de Elétrons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Campos magnéticos paralelos ao alvo aprisionam elétrons, aumentando a frequência de colisões, a densidade do plasma e a taxa de deposição.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🧪 Injeção de Gás Reativo (N2)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O nitrogênio reativo é ionizado e reage em fase vapor ou na superfície do filme em crescimento, formando a fase nitreto desejada.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⚠️ O Fenômeno de Envenenamento do Alvo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reação do gás reativo diretamente na superfície do alvo pode criar uma camada cerâmica de nitreto, alterando a taxa de sputtering e exigindo monitoramento rigoroso dos fluxos gasosos.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REVISÃO DA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Comportamento Oxidativo de Filmes de NbN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11/20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👨‍🔬 Frankenthal et 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Oxidação inicial em temperaturas entre 20 e 400 °C. Formação de oxinitreto interfacial restrito a poucas camadas atômicas mesmo abaixo de 190 °C.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👨‍🔬 Gallagher et 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Oxidação entre 440 e 540 °C segue lei parabólica por difusão. Nb2O5 inicial amorfo transiciona para fase cristalina acima de 450 °C.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👨‍🔬 Carvalho et 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Tratamentos térmicos a 500 e 700 °C resultam em oxidação severa, com o desaparecimento completo dos picos de XRD do filme de NbN original.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📌 Cinética Tradicional de Oxidação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Crescimento da camada de pentóxido de nióbio (Nb2O5) controlado pela difusão de oxigênio através da interface óxido/nitreto em direção ao interior do filme.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REVISÃO DA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Efeito do Silício na Resistência à Oxidação de MTNs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12/20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🛡️ Sistemas Ti-Si-N e Zr-Si-N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Greczynski et al. e Chen et al. demonstraram a formação de camadas passivantes de SiO2-TiO2 e Si-Zr-O amorfos, reduzindo drasticamente a oxidação a 800 °C.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📊 Dados no Nb-Si-N (Chen et al., 2018)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600 °C, filme com 15 at.% Si desenvolveu 1400 nm de óxido, enquanto filme com 20 at.% Si reduziu a camada oxidada para apenas 144 nm (redução de 90%).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💡 Mecanismo Proposto na Literatura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dissolução preferencial das ligações Nb-Si e a migração de silício para a superfície promovem uma camada fina, densa e protetora de óxido que impede o avanço do oxigênio.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REVISÃO DA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Efeito do Silício na Resistência à Corrosão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13/20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🌊 Desempenho Eletroquímico em Salmoura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Estudos em Zr-Si-N e Ti-Si-N (Tang et al., Wan et al.) relatam resistência à corrosão 8 a 15 vezes superior em NaCl 3,5% comparado ao nitreto binário.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📉 Resultados em Nb-Si-N (Velasco et al., 2016)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densidade de corrente de corrosão caiu de 110 nA/cm² (NbN puro) para 23 nA/cm² com a adição de Si em substrato de aço inox AISI 304.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🔒 Amorfização dos Contornos de Grão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A fase amorfa intergranular de Si3N4 impede a penetração do eletrólito corrosivo por caminhos preferenciais, aumentando a passivação e a proteção do substrato.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METODOLOGIA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Sistema de Deposição: AJA Orion 5-HV Sputtering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14/20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🏠 Câmara Principal &amp; Load-Lock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Câmara de Deposição Principal mantida sob alto vácuo constante.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Câmara Load-Lock (pré-câmara) permite transferência de substratos sem quebrar o vácuo principal.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Porta-amostras rotativo a 10 rpm posicionado a 100 mm de distância dos alvos.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Linhas de gases independentes para Argônio (Ar) e Nitrogênio (N2).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⚡ Fontes de Potência &amp; Alvos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Alvo de Nióbio (Nb): Pureza 99,99%, acoplado a fonte de potência DC (corrente contínua).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Alvo de Silício (Si): Pureza 99,99%, acoplado a fonte de potência RF (radiofrequência).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Controle estrito da estequiometria via potência e vazão de massa.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METODOLOGIA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Substratos &amp; Condicionamento do Vácuo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15/20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💎 Wafers de Silício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Silício monocristalino Si(100) para caracterização por GIXRD, MEV e tratamentos térmicos de oxidação.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✏️ Grafite &amp; Aço 304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Grafite destinado a análises de RBS; Aço Inox AISI 304 lixado e polido para ensaios corrosivos.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🧼 Limpeza Ultrassônica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Banho em água com detergente, 3x água destilada, acetona e secagem com ar quente seco.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🔥 Condicionamento Térmico (Bake-out)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Limpeza com isopropanol e aquecimento a 400 °C por 4 horas em vácuo antes das deposições para remoção de espécies adsorvidas (H2O, O2).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METODOLOGIA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Parâmetros de Deposição dos Filmes NbN e Nb-Si-N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16/20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⚙️ NbN Estequiométrico Base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Potência Alvo Nb: 150 W (Fonte DC).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Fluxo de Argônio (Ar): 14 sccm.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Fluxo de Nitrogênio (N2): 7 sccm.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Parâmetros validados em Araújo (2026).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9260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🎛️ Variação da Potência do Silício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Fluxos de Ar/N2 e potência do Nb mantidos constantes.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Variação sistemática da potência RF no alvo de Si para modulação do teor de silício.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Tempo: 90 min (Si e Aço Inox) | 10 min (Grafite).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🎯 Objetivo dos Parâmetros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Garantir o controle rigoroso da incorporação atômica de silício para avaliação gradual de seu impacto na microestrutura e propriedades.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METODOLOGIA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Caracterização Físico-Química &amp; Ensaio Eletroquímico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17/20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🔬 Técnicas Físico-Químicas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RBS (UFRGS): Composição elementar exata e espessura dos filmes.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GIXRD (UFS): Identificação de fases cristalinas e estrutura.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MEV/EDS (UFS): Morfologia superficial e seção transversal.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XPS (CBPF): Estados de oxidação e ligações químicas (Nb-N, Si-N, Nb-O, Si-O).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⚡ Célula Eletroquímica (3 Eletrodos)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Eletrodo de Trabalho: Amostra revestida (Aço AISI 304).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Contraeletrodo: Platina (Pt).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Eletrodo de Referência: Ag/AgCl.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Meio: Solução estática de NaCl 3,5% sem agitação em triplicada a 25 °C.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Tratamentos Oxidativos: Mufla a 500, 600 e 700 °C por 30 min.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INFRAESTRUTURA DISPONÍVEL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Infraestrutura Multidisciplinar &amp; Parcerias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18/20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🏛️ UFS (DCEM)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Sputtering AJA Orion 5-HV.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Forno Mufla para oxidação.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Potenciostato/Galvanostato AutoLab 320N.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🔬 UFS (CLMDCEM)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Difratômetro GIXRD Shimadzu XRD-6000.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Microscópio Eletrônico de Varredura JEOL JCM 5700.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🤝 Colaborações Externas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CBPF (RJ): Análises de XPS sob responsabilidade do Prof. Dr. Fernando Stavale.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•  UFRGS (RS): Análises de RBS coordenadas pelo Prof. Dr. Johnny Ferraz Dias.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6. RESULTADOS ESPERADOS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Resultados Esperados &amp; Impacto Científico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19/20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🔗 Tríade Parâmetros-Estrutura-Propriedades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Estabelecer correlação direta entre os parâmetros de síntese por sputtering, o teor de Si incorporado, a microestrutura e a resistência térmica/corrosiva.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🛡️ Desempenho Corrosivo Superior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Desenvolver revestimentos com resistência anticorrosiva em meio de NaCl 3,5% muito superior à do aço inoxidável AISI 304 não revestido.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💡 Elucidação do Mecanismo de Oxidação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Mapear detalhadamente a formação de óxidos em elevadas temperaturas (500, 600 e 700 °C) no sistema Nb-Si-N, expandindo o conhecimento científico internacional.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ANEXO 1 &amp; 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Cronograma Físico de Execução (2026 – 2030)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20/20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C2942"/>
          </a:solidFill>
          <a:ln>
            <a:solidFill>
              <a:srgbClr val="1C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286000"/>
                <a:gridCol w="2286000"/>
                <a:gridCol w="2316175"/>
              </a:tblGrid>
              <a:tr h="47026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Descrição da Meta / Atividade</a:t>
                      </a:r>
                    </a:p>
                  </a:txBody>
                  <a:tcPr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Local de Execução</a:t>
                      </a:r>
                    </a:p>
                  </a:txBody>
                  <a:tcPr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Duração Prevista</a:t>
                      </a:r>
                    </a:p>
                  </a:txBody>
                  <a:tcPr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1C294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Cumprimento de Disciplinas &amp; Artigo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P2CEM / UFS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Mar 2026 – Ago 2026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Paula Larissa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Deposição dos Filmes NbN e Nb-Si-N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Lab. Filmes Finos (UFS)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Set 2026 – Abr 2027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Paula Larissa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Caracterizações (RBS, GIXRD, MEV, XPS)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UFRGS / UFS / CBPF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Mai 2027 – Jan 2028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Paula Larissa / Profs.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Ensaios de Oxidação &amp; XPS Pós-Oxidação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DCEM / UFS / CBPF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Nov 2027 – Set 2028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Paula Larissa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Deposição em Aço Inox &amp; Corrosão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DCEM / UFS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Set 2028 – Abr 2029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Paula Larissa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Redação Final da Tese &amp; Defesa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P2CEM / UFS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Jul 2029 – Jan 2030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Paula Larissa / Orientador</a:t>
                      </a:r>
                    </a:p>
                  </a:txBody>
                  <a:tcPr>
                    <a:solidFill>
                      <a:srgbClr val="121C3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👥 Equipe do Laboratório de Filmes Finos (UFS)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Paula Larissa (Discente), Prof. Dr. Eduardo Tentardini (Orientador), Pós-graduandos: Iago, Luís Fernando, Ana Larissa, João Carlos, Fábio; Iniciação Científica: Ronaldo, Matheus, Antônio.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